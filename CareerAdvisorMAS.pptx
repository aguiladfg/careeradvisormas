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75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412480" y="45720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CareerAdvisor-MAS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multiagente para la recomendación de carreras universitarias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5029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Platform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3246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7"/>
          <p:cNvSpPr/>
          <p:nvPr/>
        </p:nvSpPr>
        <p:spPr>
          <a:xfrm>
            <a:off x="34747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FIPA Contract-Net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3246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9"/>
          <p:cNvSpPr/>
          <p:nvPr/>
        </p:nvSpPr>
        <p:spPr>
          <a:xfrm>
            <a:off x="640080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+ Java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 ·  UPM ETSII  ·  Curso 2025–26</a:t>
            </a:r>
            <a:endParaRPr lang="en-US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C372BB-235D-7F5F-93D7-0F9B6579ABE1}"/>
              </a:ext>
            </a:extLst>
          </p:cNvPr>
          <p:cNvSpPr txBox="1"/>
          <p:nvPr/>
        </p:nvSpPr>
        <p:spPr>
          <a:xfrm>
            <a:off x="961054" y="3944957"/>
            <a:ext cx="3088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Miembros del equipo:</a:t>
            </a:r>
          </a:p>
          <a:p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 - Jesús Martínez García </a:t>
            </a:r>
          </a:p>
          <a:p>
            <a:r>
              <a:rPr lang="es-ES" dirty="0">
                <a:solidFill>
                  <a:schemeClr val="bg1"/>
                </a:solidFill>
              </a:rPr>
              <a:t> - Jorge Nebreda López </a:t>
            </a:r>
          </a:p>
          <a:p>
            <a:r>
              <a:rPr lang="es-ES" dirty="0">
                <a:solidFill>
                  <a:schemeClr val="bg1"/>
                </a:solidFill>
              </a:rPr>
              <a:t> - Darío Franco González </a:t>
            </a:r>
          </a:p>
          <a:p>
            <a:r>
              <a:rPr lang="es-ES" dirty="0">
                <a:solidFill>
                  <a:schemeClr val="bg1"/>
                </a:solidFill>
              </a:rPr>
              <a:t> - Jesús Barrena Sandoval             - Daniel Castellanos Bores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la presentación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990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216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sistema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19072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motivación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Text 8"/>
          <p:cNvSpPr/>
          <p:nvPr/>
        </p:nvSpPr>
        <p:spPr>
          <a:xfrm>
            <a:off x="59436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8775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multiagente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19072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y roles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520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6" name="Shape 12"/>
          <p:cNvSpPr/>
          <p:nvPr/>
        </p:nvSpPr>
        <p:spPr>
          <a:xfrm>
            <a:off x="457200" y="3520440"/>
            <a:ext cx="73152" cy="10058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Text 13"/>
          <p:cNvSpPr/>
          <p:nvPr/>
        </p:nvSpPr>
        <p:spPr>
          <a:xfrm>
            <a:off x="59436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764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35935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Contract-Net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19072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mensajes ACL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7091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2" name="Shape 17"/>
          <p:cNvSpPr/>
          <p:nvPr/>
        </p:nvSpPr>
        <p:spPr>
          <a:xfrm>
            <a:off x="457200" y="4709160"/>
            <a:ext cx="73152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3" name="Text 18"/>
          <p:cNvSpPr/>
          <p:nvPr/>
        </p:nvSpPr>
        <p:spPr>
          <a:xfrm>
            <a:off x="594360" y="4709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96519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19072" y="4782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en detalle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719072" y="5212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y DF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0" y="11430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8" name="Shape 22"/>
          <p:cNvSpPr/>
          <p:nvPr/>
        </p:nvSpPr>
        <p:spPr>
          <a:xfrm>
            <a:off x="6400800" y="114300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Text 23"/>
          <p:cNvSpPr/>
          <p:nvPr/>
        </p:nvSpPr>
        <p:spPr>
          <a:xfrm>
            <a:off x="653796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39903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62672" y="1216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662672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dominios · 20 carreras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331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34" name="Shape 27"/>
          <p:cNvSpPr/>
          <p:nvPr/>
        </p:nvSpPr>
        <p:spPr>
          <a:xfrm>
            <a:off x="6400800" y="2331720"/>
            <a:ext cx="73152" cy="10058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5" name="Text 28"/>
          <p:cNvSpPr/>
          <p:nvPr/>
        </p:nvSpPr>
        <p:spPr>
          <a:xfrm>
            <a:off x="653796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587752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62672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7662672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paso a paso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Descripción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carrera universitaria es una de las decisiones más importantes de la vida. Los estudiantes necesitan orientación personalizada basada en sus intereses reales.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749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7490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8775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intereses y desintereses del usuario expresados en lenguaje natural y recomienda las carreras más adecuadas con una puntuación de similitud.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2514600"/>
            <a:ext cx="3749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2" name="Shape 9"/>
          <p:cNvSpPr/>
          <p:nvPr/>
        </p:nvSpPr>
        <p:spPr>
          <a:xfrm>
            <a:off x="4389120" y="2514600"/>
            <a:ext cx="37490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5877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hace?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324612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agentes especializados evalúan cada uno su dominio de conocimiento (Tecnología, Ciencias, Humanidades, Salud, Arte) y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compiten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Contract-Net.</a:t>
            </a:r>
          </a:p>
          <a:p>
            <a:pPr marL="0" indent="0">
              <a:buNone/>
            </a:pPr>
            <a:endParaRPr lang="en-US" sz="1600" dirty="0">
              <a:solidFill>
                <a:srgbClr val="1E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Contacr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-Net se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explicará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posteriormente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321040" y="2514600"/>
            <a:ext cx="3749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21040" y="2514600"/>
            <a:ext cx="3749040" cy="5943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58775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multiagente?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03920" y="324612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KB es autónomo, no conoce las propuestas de los demás. El coordinador agrega y decide. Esto no puede replicarse con un programa </a:t>
            </a:r>
            <a:r>
              <a:rPr lang="en-US" sz="16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rgbClr val="1E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KB (</a:t>
            </a:r>
            <a:r>
              <a:rPr lang="es-ES" sz="1600" i="1" dirty="0"/>
              <a:t>Knowledge Base</a:t>
            </a:r>
            <a:r>
              <a:rPr lang="es-ES" sz="1600" dirty="0"/>
              <a:t> o Base de Conocimiento) es un repositorio de información centralizado que almacena datos estructurados y no estructurados sobre un dominio específico.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Arquitectura multiagente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1521440" cy="5577840"/>
          </a:xfrm>
          <a:prstGeom prst="rect">
            <a:avLst/>
          </a:prstGeom>
          <a:solidFill>
            <a:srgbClr val="0D1E30">
              <a:alpha val="70000"/>
            </a:srgbClr>
          </a:solid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JADE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" y="4047620"/>
            <a:ext cx="1920240" cy="2426332"/>
          </a:xfrm>
          <a:prstGeom prst="rect">
            <a:avLst/>
          </a:prstGeom>
          <a:solidFill>
            <a:srgbClr val="0A2540"/>
          </a:solidFill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80373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53617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Pages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1268" y="4950823"/>
            <a:ext cx="188366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percepcion-intereses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5522230"/>
            <a:ext cx="188366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coordinador-carreras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619488" y="3118104"/>
            <a:ext cx="188366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kb-domain-*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88834" y="6143648"/>
            <a:ext cx="188366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visualizacion-resultados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solidFill>
            <a:srgbClr val="14405A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258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12893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AgentePercepcion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66928" y="16367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OneShotBehaviour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 flipV="1">
            <a:off x="3044952" y="1636776"/>
            <a:ext cx="1737360" cy="18288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3099815" y="1260192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0D203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3017520" y="1271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73167" y="1207008"/>
            <a:ext cx="3017520" cy="914400"/>
          </a:xfrm>
          <a:prstGeom prst="rect">
            <a:avLst/>
          </a:prstGeom>
          <a:solidFill>
            <a:srgbClr val="0A3550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729" y="128930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53089" y="12893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05476" y="172821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Contract-Net Iniciador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2907792"/>
            <a:ext cx="101041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3840480" y="27066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(broadcast)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57200" y="3063240"/>
            <a:ext cx="1828800" cy="749808"/>
          </a:xfrm>
          <a:prstGeom prst="rect">
            <a:avLst/>
          </a:prstGeom>
          <a:solidFill>
            <a:srgbClr val="3F51B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15468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0120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Tecnología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66928" y="34655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371600" y="2944368"/>
            <a:ext cx="0" cy="11887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6"/>
          <p:cNvSpPr/>
          <p:nvPr/>
        </p:nvSpPr>
        <p:spPr>
          <a:xfrm>
            <a:off x="1371600" y="3063240"/>
            <a:ext cx="0" cy="0"/>
          </a:xfrm>
          <a:prstGeom prst="line">
            <a:avLst/>
          </a:prstGeom>
          <a:noFill/>
          <a:ln w="15240">
            <a:solidFill>
              <a:srgbClr val="F9E79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7"/>
          <p:cNvSpPr/>
          <p:nvPr/>
        </p:nvSpPr>
        <p:spPr>
          <a:xfrm>
            <a:off x="2468880" y="3063240"/>
            <a:ext cx="1828800" cy="749808"/>
          </a:xfrm>
          <a:prstGeom prst="rect">
            <a:avLst/>
          </a:prstGeom>
          <a:solidFill>
            <a:srgbClr val="388E3C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315468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971800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Ciencias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2578608" y="34655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383280" y="2944368"/>
            <a:ext cx="0" cy="11887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1"/>
          <p:cNvSpPr/>
          <p:nvPr/>
        </p:nvSpPr>
        <p:spPr>
          <a:xfrm>
            <a:off x="3383280" y="3063240"/>
            <a:ext cx="0" cy="0"/>
          </a:xfrm>
          <a:prstGeom prst="line">
            <a:avLst/>
          </a:prstGeom>
          <a:noFill/>
          <a:ln w="15240">
            <a:solidFill>
              <a:srgbClr val="F9E79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2"/>
          <p:cNvSpPr/>
          <p:nvPr/>
        </p:nvSpPr>
        <p:spPr>
          <a:xfrm>
            <a:off x="4480560" y="3063240"/>
            <a:ext cx="1828800" cy="749808"/>
          </a:xfrm>
          <a:prstGeom prst="rect">
            <a:avLst/>
          </a:prstGeom>
          <a:solidFill>
            <a:srgbClr val="F57C00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315468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983480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Humanidades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4590288" y="34655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5394960" y="2944368"/>
            <a:ext cx="0" cy="11887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36"/>
          <p:cNvSpPr/>
          <p:nvPr/>
        </p:nvSpPr>
        <p:spPr>
          <a:xfrm>
            <a:off x="5394960" y="3063240"/>
            <a:ext cx="0" cy="0"/>
          </a:xfrm>
          <a:prstGeom prst="line">
            <a:avLst/>
          </a:prstGeom>
          <a:noFill/>
          <a:ln w="15240">
            <a:solidFill>
              <a:srgbClr val="F9E79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37"/>
          <p:cNvSpPr/>
          <p:nvPr/>
        </p:nvSpPr>
        <p:spPr>
          <a:xfrm>
            <a:off x="6492240" y="3063240"/>
            <a:ext cx="1828800" cy="749808"/>
          </a:xfrm>
          <a:prstGeom prst="rect">
            <a:avLst/>
          </a:prstGeom>
          <a:solidFill>
            <a:srgbClr val="D32F2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3154680"/>
            <a:ext cx="320040" cy="32004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995160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Salud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6601968" y="34655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406640" y="2944368"/>
            <a:ext cx="0" cy="11887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1"/>
          <p:cNvSpPr/>
          <p:nvPr/>
        </p:nvSpPr>
        <p:spPr>
          <a:xfrm>
            <a:off x="7406640" y="3063240"/>
            <a:ext cx="0" cy="0"/>
          </a:xfrm>
          <a:prstGeom prst="line">
            <a:avLst/>
          </a:prstGeom>
          <a:noFill/>
          <a:ln w="15240">
            <a:solidFill>
              <a:srgbClr val="F9E79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2"/>
          <p:cNvSpPr/>
          <p:nvPr/>
        </p:nvSpPr>
        <p:spPr>
          <a:xfrm>
            <a:off x="8503920" y="3063240"/>
            <a:ext cx="1828800" cy="749808"/>
          </a:xfrm>
          <a:prstGeom prst="rect">
            <a:avLst/>
          </a:prstGeom>
          <a:solidFill>
            <a:srgbClr val="7B1FA2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3648" y="3154680"/>
            <a:ext cx="320040" cy="32004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9006840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Arte</a:t>
            </a:r>
            <a:endParaRPr lang="en-US" sz="1200" dirty="0"/>
          </a:p>
        </p:txBody>
      </p:sp>
      <p:sp>
        <p:nvSpPr>
          <p:cNvPr id="54" name="Text 44"/>
          <p:cNvSpPr/>
          <p:nvPr/>
        </p:nvSpPr>
        <p:spPr>
          <a:xfrm>
            <a:off x="8613648" y="34655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9418320" y="2944368"/>
            <a:ext cx="0" cy="11887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46"/>
          <p:cNvSpPr/>
          <p:nvPr/>
        </p:nvSpPr>
        <p:spPr>
          <a:xfrm>
            <a:off x="9418320" y="3063240"/>
            <a:ext cx="0" cy="0"/>
          </a:xfrm>
          <a:prstGeom prst="line">
            <a:avLst/>
          </a:prstGeom>
          <a:noFill/>
          <a:ln w="15240">
            <a:solidFill>
              <a:srgbClr val="F9E79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48"/>
          <p:cNvSpPr/>
          <p:nvPr/>
        </p:nvSpPr>
        <p:spPr>
          <a:xfrm>
            <a:off x="6309360" y="2130552"/>
            <a:ext cx="0" cy="77724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49"/>
          <p:cNvSpPr/>
          <p:nvPr/>
        </p:nvSpPr>
        <p:spPr>
          <a:xfrm>
            <a:off x="4617720" y="227685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0D203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0"/>
          <p:cNvSpPr/>
          <p:nvPr/>
        </p:nvSpPr>
        <p:spPr>
          <a:xfrm>
            <a:off x="4595326" y="2293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5394960" y="3881628"/>
            <a:ext cx="2578608" cy="1193292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52"/>
          <p:cNvSpPr/>
          <p:nvPr/>
        </p:nvSpPr>
        <p:spPr>
          <a:xfrm>
            <a:off x="5479681" y="4681541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0D203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53"/>
          <p:cNvSpPr/>
          <p:nvPr/>
        </p:nvSpPr>
        <p:spPr>
          <a:xfrm>
            <a:off x="5440680" y="46863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7973568" y="5421086"/>
            <a:ext cx="2926080" cy="777240"/>
          </a:xfrm>
          <a:prstGeom prst="rect">
            <a:avLst/>
          </a:prstGeom>
          <a:solidFill>
            <a:srgbClr val="14405A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292" y="5484254"/>
            <a:ext cx="320040" cy="320040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8531352" y="547511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AgenteVisualizacion</a:t>
            </a:r>
            <a:endParaRPr lang="en-US" sz="1200" dirty="0"/>
          </a:p>
        </p:txBody>
      </p:sp>
      <p:sp>
        <p:nvSpPr>
          <p:cNvPr id="67" name="Text 56"/>
          <p:cNvSpPr/>
          <p:nvPr/>
        </p:nvSpPr>
        <p:spPr>
          <a:xfrm>
            <a:off x="8193024" y="582342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CyclicBehaviour</a:t>
            </a:r>
            <a:endParaRPr lang="en-US" sz="900" dirty="0"/>
          </a:p>
        </p:txBody>
      </p:sp>
      <p:sp>
        <p:nvSpPr>
          <p:cNvPr id="70" name="Shape 48">
            <a:extLst>
              <a:ext uri="{FF2B5EF4-FFF2-40B4-BE49-F238E27FC236}">
                <a16:creationId xmlns:a16="http://schemas.microsoft.com/office/drawing/2014/main" id="{58030DDF-0539-E716-8B05-1EA71E209C8D}"/>
              </a:ext>
            </a:extLst>
          </p:cNvPr>
          <p:cNvSpPr/>
          <p:nvPr/>
        </p:nvSpPr>
        <p:spPr>
          <a:xfrm flipH="1" flipV="1">
            <a:off x="6903717" y="2121408"/>
            <a:ext cx="0" cy="786384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49">
            <a:extLst>
              <a:ext uri="{FF2B5EF4-FFF2-40B4-BE49-F238E27FC236}">
                <a16:creationId xmlns:a16="http://schemas.microsoft.com/office/drawing/2014/main" id="{5F80AAA7-9BC8-7E67-4395-7BE971DB1A3F}"/>
              </a:ext>
            </a:extLst>
          </p:cNvPr>
          <p:cNvSpPr/>
          <p:nvPr/>
        </p:nvSpPr>
        <p:spPr>
          <a:xfrm>
            <a:off x="7086600" y="229873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0D203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76FE8269-3076-469D-3E18-7FEFC3346B15}"/>
              </a:ext>
            </a:extLst>
          </p:cNvPr>
          <p:cNvSpPr/>
          <p:nvPr/>
        </p:nvSpPr>
        <p:spPr>
          <a:xfrm>
            <a:off x="7085107" y="2300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PROPOSE/REFUSE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Protocolo FIPA Contract-Net — Flujo de mensajes ACL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33856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347472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" y="1609344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Shape 5"/>
          <p:cNvSpPr/>
          <p:nvPr/>
        </p:nvSpPr>
        <p:spPr>
          <a:xfrm>
            <a:off x="987552" y="1024128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8" name="Shape 6"/>
          <p:cNvSpPr/>
          <p:nvPr/>
        </p:nvSpPr>
        <p:spPr>
          <a:xfrm>
            <a:off x="987552" y="1024128"/>
            <a:ext cx="6400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Shape 7"/>
          <p:cNvSpPr/>
          <p:nvPr/>
        </p:nvSpPr>
        <p:spPr>
          <a:xfrm>
            <a:off x="1115568" y="11155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1115568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AgentePercepcion  →  AgenteCoordinador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148132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introduce sus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desintereses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161288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ACLMessage.REQUEST · ontología: career-advisor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066544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47472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" y="2542032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987552" y="1956816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987552" y="1956816"/>
            <a:ext cx="64008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115568" y="2048256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115568" y="2048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×5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2048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  →  AgenteKB_* (broadcast)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241401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envía la convocatoria a los 5 agentes KB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simultáneamente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093976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ACLMessage.CFP · conversationId compartido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999232"/>
            <a:ext cx="475488" cy="47548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4747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" y="347472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987552" y="2889504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8" name="Shape 26"/>
          <p:cNvSpPr/>
          <p:nvPr/>
        </p:nvSpPr>
        <p:spPr>
          <a:xfrm>
            <a:off x="987552" y="2889504"/>
            <a:ext cx="64008" cy="8229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1115568" y="2980944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115568" y="2980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/ REFUSE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46120" y="2980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AgenteKB_*  →  AgenteCoordinador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334670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KB evalúa su dominio. Si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&gt; 0,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PROPOSE con JSON. Si no, REFUSE.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026664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ACLMessage.PROPOSE / REFUSE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931920"/>
            <a:ext cx="475488" cy="475488"/>
          </a:xfrm>
          <a:prstGeom prst="ellipse">
            <a:avLst/>
          </a:prstGeom>
          <a:solidFill>
            <a:srgbClr val="C17D00"/>
          </a:solidFill>
          <a:ln w="12700">
            <a:solidFill>
              <a:srgbClr val="C17D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47472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" y="4407408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987552" y="3822192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987552" y="3822192"/>
            <a:ext cx="64008" cy="822960"/>
          </a:xfrm>
          <a:prstGeom prst="rect">
            <a:avLst/>
          </a:prstGeom>
          <a:solidFill>
            <a:srgbClr val="C17D00"/>
          </a:solidFill>
          <a:ln w="12700">
            <a:solidFill>
              <a:srgbClr val="C17D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115568" y="3913632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C17D00"/>
          </a:solidFill>
          <a:ln w="12700">
            <a:solidFill>
              <a:srgbClr val="C17D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1115568" y="3913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4612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  →  AgenteKB_*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5568" y="427939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elige el KB con mayor score. ACCEPT al ganador, REJECT al resto.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3959352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ACLMessage.ACCEPT_PROPOSAL · ACLMessage.REJECT_PROPOSAL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486460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47472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6072" y="5340096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987552" y="4754880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48" name="Shape 46"/>
          <p:cNvSpPr/>
          <p:nvPr/>
        </p:nvSpPr>
        <p:spPr>
          <a:xfrm>
            <a:off x="987552" y="4754880"/>
            <a:ext cx="6400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1115568" y="484632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1115568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(confirm.)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4612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AgenteKB ganador  →  AgenteCoordinador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15568" y="521208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KB ganador confirma su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aceptada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4892040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ACLMessage.INFORM · echo del JSON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5797296"/>
            <a:ext cx="475488" cy="47548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47472" y="5797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87552" y="5687568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987552" y="5687568"/>
            <a:ext cx="64008" cy="8229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1115568" y="577900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1115568" y="5779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(ranking)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246120" y="5779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  →  AgenteVisualizacion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115568" y="614476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 con las top-10 carreras de todos los dominios, ordenadas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92240" y="5824728"/>
            <a:ext cx="5120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ACLMessage.INFORM · language: json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Agentes en detalle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623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6235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0607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AgentePercepcion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3272" y="14173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OneShotBehaviour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21208" y="1719072"/>
            <a:ext cx="5394960" cy="256032"/>
          </a:xfrm>
          <a:prstGeom prst="roundRect">
            <a:avLst>
              <a:gd name="adj" fmla="val 14286"/>
            </a:avLst>
          </a:prstGeom>
          <a:solidFill>
            <a:srgbClr val="F0F6F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76072" y="1719072"/>
            <a:ext cx="5303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DF: percepcion-intereses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072" y="2029968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resources/intereses.txt y resources/desintereses.txt.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Swing para entrada libre.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AgenteCoordinador en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DF.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REQUEST con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desintereses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005840"/>
            <a:ext cx="5623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355080" y="1005840"/>
            <a:ext cx="562356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11556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76872" y="10607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76872" y="14173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Behaviour (máquina de estados)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64808" y="1719072"/>
            <a:ext cx="5394960" cy="256032"/>
          </a:xfrm>
          <a:prstGeom prst="roundRect">
            <a:avLst>
              <a:gd name="adj" fmla="val 14286"/>
            </a:avLst>
          </a:prstGeom>
          <a:solidFill>
            <a:srgbClr val="F0F6F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6519672" y="1719072"/>
            <a:ext cx="5303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DF: coordinador-carreras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519672" y="2029968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1: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 de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AgentePercepcion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2: envía CFP broadcast a todos los KB del DF.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3: recoge PROPOSE/REFUSE con timeout de 5 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4: ACCEPT al ganador, REJECT al resto.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5: espera INFORM de confirmación del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ranking global y envía INFORM a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11480" y="3840480"/>
            <a:ext cx="5623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411480" y="3840480"/>
            <a:ext cx="56235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95020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33272" y="3895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AgenteKB (×5)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33272" y="42519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CyclicBehaviour (filtro bloqueante)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21208" y="4553712"/>
            <a:ext cx="5394960" cy="256032"/>
          </a:xfrm>
          <a:prstGeom prst="roundRect">
            <a:avLst>
              <a:gd name="adj" fmla="val 14286"/>
            </a:avLst>
          </a:prstGeom>
          <a:solidFill>
            <a:srgbClr val="F0F6F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576072" y="4553712"/>
            <a:ext cx="5303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DF: kb-domain-&lt;dominio&gt;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76072" y="4864608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ciencias · humanidades · salud ·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CFP y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carreras con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rankDomain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&gt; 0, PROPOSE con JSON del ranking del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≤ 0, REFUSE (sin candidatos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ACCEPT, se envía INFORM de confirmación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REJECT, se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escuchar CFPs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55080" y="3840480"/>
            <a:ext cx="5623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4"/>
          <p:cNvSpPr/>
          <p:nvPr/>
        </p:nvSpPr>
        <p:spPr>
          <a:xfrm>
            <a:off x="6355080" y="3840480"/>
            <a:ext cx="562356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950208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76872" y="3895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AgenteVisualizacion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6976872" y="42519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CyclicBehaviour (filtro bloqueante)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464808" y="4553712"/>
            <a:ext cx="5394960" cy="256032"/>
          </a:xfrm>
          <a:prstGeom prst="roundRect">
            <a:avLst>
              <a:gd name="adj" fmla="val 14286"/>
            </a:avLst>
          </a:prstGeom>
          <a:solidFill>
            <a:srgbClr val="F0F6FA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8"/>
          <p:cNvSpPr/>
          <p:nvPr/>
        </p:nvSpPr>
        <p:spPr>
          <a:xfrm>
            <a:off x="6519672" y="4553712"/>
            <a:ext cx="5303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DF: visualizacion-resultados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519672" y="4864608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INFORM con ranking global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parser ligero sin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ResultadoGUI (Swing) en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top-10 con barras, medallas y badges de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ranking por consola con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Base de conocimiento distribuida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743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743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0936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carrera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005840"/>
            <a:ext cx="27432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23544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3544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(intereses / desintereses)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94560"/>
            <a:ext cx="2240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11480" y="2194560"/>
            <a:ext cx="2240280" cy="59436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58568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41832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1208" y="288036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21208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Informática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1208" y="370332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521208" y="3703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Telecomunicaciones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1208" y="452628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521208" y="45262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Industrial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1208" y="534924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21208" y="534924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70632" y="2194560"/>
            <a:ext cx="2240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2770632" y="2194560"/>
            <a:ext cx="2240280" cy="59436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2258568"/>
            <a:ext cx="384048" cy="38404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300984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2880360" y="288036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9"/>
          <p:cNvSpPr/>
          <p:nvPr/>
        </p:nvSpPr>
        <p:spPr>
          <a:xfrm>
            <a:off x="2880360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880360" y="370332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1"/>
          <p:cNvSpPr/>
          <p:nvPr/>
        </p:nvSpPr>
        <p:spPr>
          <a:xfrm>
            <a:off x="2880360" y="3703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2880360" y="452628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3"/>
          <p:cNvSpPr/>
          <p:nvPr/>
        </p:nvSpPr>
        <p:spPr>
          <a:xfrm>
            <a:off x="2880360" y="45262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2880360" y="534924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5"/>
          <p:cNvSpPr/>
          <p:nvPr/>
        </p:nvSpPr>
        <p:spPr>
          <a:xfrm>
            <a:off x="2880360" y="534924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Ambientales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129784" y="2194560"/>
            <a:ext cx="2240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7"/>
          <p:cNvSpPr/>
          <p:nvPr/>
        </p:nvSpPr>
        <p:spPr>
          <a:xfrm>
            <a:off x="5129784" y="2194560"/>
            <a:ext cx="2240280" cy="594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2258568"/>
            <a:ext cx="384048" cy="38404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660136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Humanidades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5239512" y="288036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0"/>
          <p:cNvSpPr/>
          <p:nvPr/>
        </p:nvSpPr>
        <p:spPr>
          <a:xfrm>
            <a:off x="5239512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5239512" y="370332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2"/>
          <p:cNvSpPr/>
          <p:nvPr/>
        </p:nvSpPr>
        <p:spPr>
          <a:xfrm>
            <a:off x="5239512" y="3703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Periodismo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5239512" y="452628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4"/>
          <p:cNvSpPr/>
          <p:nvPr/>
        </p:nvSpPr>
        <p:spPr>
          <a:xfrm>
            <a:off x="5239512" y="45262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5239512" y="534924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6"/>
          <p:cNvSpPr/>
          <p:nvPr/>
        </p:nvSpPr>
        <p:spPr>
          <a:xfrm>
            <a:off x="5239512" y="534924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5239512" y="617220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48"/>
          <p:cNvSpPr/>
          <p:nvPr/>
        </p:nvSpPr>
        <p:spPr>
          <a:xfrm>
            <a:off x="5239512" y="617220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7488936" y="2194560"/>
            <a:ext cx="2240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5" name="Shape 50"/>
          <p:cNvSpPr/>
          <p:nvPr/>
        </p:nvSpPr>
        <p:spPr>
          <a:xfrm>
            <a:off x="7488936" y="2194560"/>
            <a:ext cx="2240280" cy="5943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2258568"/>
            <a:ext cx="384048" cy="38404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8019288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300" dirty="0"/>
          </a:p>
        </p:txBody>
      </p:sp>
      <p:sp>
        <p:nvSpPr>
          <p:cNvPr id="58" name="Shape 52"/>
          <p:cNvSpPr/>
          <p:nvPr/>
        </p:nvSpPr>
        <p:spPr>
          <a:xfrm>
            <a:off x="7598664" y="288036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3"/>
          <p:cNvSpPr/>
          <p:nvPr/>
        </p:nvSpPr>
        <p:spPr>
          <a:xfrm>
            <a:off x="7598664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7598664" y="370332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5"/>
          <p:cNvSpPr/>
          <p:nvPr/>
        </p:nvSpPr>
        <p:spPr>
          <a:xfrm>
            <a:off x="7598664" y="3703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Enfermería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7598664" y="452628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57"/>
          <p:cNvSpPr/>
          <p:nvPr/>
        </p:nvSpPr>
        <p:spPr>
          <a:xfrm>
            <a:off x="7598664" y="45262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7598664" y="534924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59"/>
          <p:cNvSpPr/>
          <p:nvPr/>
        </p:nvSpPr>
        <p:spPr>
          <a:xfrm>
            <a:off x="7598664" y="534924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Fisioterapia</a:t>
            </a:r>
            <a:endParaRPr lang="en-US" sz="1100" dirty="0"/>
          </a:p>
        </p:txBody>
      </p:sp>
      <p:sp>
        <p:nvSpPr>
          <p:cNvPr id="66" name="Shape 60"/>
          <p:cNvSpPr/>
          <p:nvPr/>
        </p:nvSpPr>
        <p:spPr>
          <a:xfrm>
            <a:off x="9848088" y="2194560"/>
            <a:ext cx="2240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7" name="Shape 61"/>
          <p:cNvSpPr/>
          <p:nvPr/>
        </p:nvSpPr>
        <p:spPr>
          <a:xfrm>
            <a:off x="9848088" y="2194560"/>
            <a:ext cx="2240280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2258568"/>
            <a:ext cx="384048" cy="384048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10378440" y="2194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300" dirty="0"/>
          </a:p>
        </p:txBody>
      </p:sp>
      <p:sp>
        <p:nvSpPr>
          <p:cNvPr id="70" name="Shape 63"/>
          <p:cNvSpPr/>
          <p:nvPr/>
        </p:nvSpPr>
        <p:spPr>
          <a:xfrm>
            <a:off x="9957816" y="288036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4"/>
          <p:cNvSpPr/>
          <p:nvPr/>
        </p:nvSpPr>
        <p:spPr>
          <a:xfrm>
            <a:off x="9957816" y="288036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Bellas Artes</a:t>
            </a:r>
            <a:endParaRPr lang="en-US" sz="1100" dirty="0"/>
          </a:p>
        </p:txBody>
      </p:sp>
      <p:sp>
        <p:nvSpPr>
          <p:cNvPr id="72" name="Shape 65"/>
          <p:cNvSpPr/>
          <p:nvPr/>
        </p:nvSpPr>
        <p:spPr>
          <a:xfrm>
            <a:off x="9957816" y="370332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66"/>
          <p:cNvSpPr/>
          <p:nvPr/>
        </p:nvSpPr>
        <p:spPr>
          <a:xfrm>
            <a:off x="9957816" y="3703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74" name="Shape 67"/>
          <p:cNvSpPr/>
          <p:nvPr/>
        </p:nvSpPr>
        <p:spPr>
          <a:xfrm>
            <a:off x="9957816" y="452628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68"/>
          <p:cNvSpPr/>
          <p:nvPr/>
        </p:nvSpPr>
        <p:spPr>
          <a:xfrm>
            <a:off x="9957816" y="452628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Gráfico</a:t>
            </a:r>
            <a:endParaRPr lang="en-US" sz="1100" dirty="0"/>
          </a:p>
        </p:txBody>
      </p:sp>
      <p:sp>
        <p:nvSpPr>
          <p:cNvPr id="76" name="Shape 69"/>
          <p:cNvSpPr/>
          <p:nvPr/>
        </p:nvSpPr>
        <p:spPr>
          <a:xfrm>
            <a:off x="9957816" y="5349240"/>
            <a:ext cx="201168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0"/>
          <p:cNvSpPr/>
          <p:nvPr/>
        </p:nvSpPr>
        <p:spPr>
          <a:xfrm>
            <a:off x="9957816" y="534924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</a:t>
            </a:r>
            <a:endParaRPr lang="en-US" sz="1100" dirty="0"/>
          </a:p>
        </p:txBody>
      </p:sp>
      <p:sp>
        <p:nvSpPr>
          <p:cNvPr id="78" name="Shape 71"/>
          <p:cNvSpPr/>
          <p:nvPr/>
        </p:nvSpPr>
        <p:spPr>
          <a:xfrm>
            <a:off x="411480" y="6126480"/>
            <a:ext cx="1133856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2"/>
          <p:cNvSpPr/>
          <p:nvPr/>
        </p:nvSpPr>
        <p:spPr>
          <a:xfrm>
            <a:off x="548640" y="61264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(keywords_intereses − keywords_desintereses) / total_keywords   ∈ [−1.0, 1.0]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6858000" y="548640"/>
            <a:ext cx="484632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sistema paso a paso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6080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455575" y="4049486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1455575" y="404948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EN VIVO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772400" y="27432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CareerAdvisor-MAS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1762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agentes · Contract-Net · 20 carreras · 5 dominios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5029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</a:t>
            </a: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gracias.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 ·  UPM ETSII  ·  Curso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889</Words>
  <Application>Microsoft Office PowerPoint</Application>
  <PresentationFormat>Panorámica</PresentationFormat>
  <Paragraphs>193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CareerAdvisor-MAS — Defensa de Práctica</dc:title>
  <dc:subject>PptxGenJS Presentation</dc:subject>
  <dc:creator>UPM Sistemas Inteligentes 2025-26</dc:creator>
  <cp:lastModifiedBy>Jesus Martinez Garcia</cp:lastModifiedBy>
  <cp:revision>3</cp:revision>
  <dcterms:created xsi:type="dcterms:W3CDTF">2026-05-22T22:25:01Z</dcterms:created>
  <dcterms:modified xsi:type="dcterms:W3CDTF">2026-05-22T23:12:56Z</dcterms:modified>
</cp:coreProperties>
</file>